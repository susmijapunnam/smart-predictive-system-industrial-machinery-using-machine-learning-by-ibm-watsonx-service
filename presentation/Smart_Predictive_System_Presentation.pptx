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79" r:id="rId7"/>
    <p:sldId id="262" r:id="rId8"/>
    <p:sldId id="292" r:id="rId9"/>
    <p:sldId id="294" r:id="rId10"/>
    <p:sldId id="290" r:id="rId11"/>
    <p:sldId id="291" r:id="rId12"/>
    <p:sldId id="286" r:id="rId13"/>
    <p:sldId id="287" r:id="rId14"/>
    <p:sldId id="280" r:id="rId15"/>
    <p:sldId id="288" r:id="rId16"/>
    <p:sldId id="293"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30704932"/>
              </p:ext>
            </p:extLst>
          </p:nvPr>
        </p:nvGraphicFramePr>
        <p:xfrm>
          <a:off x="1391026" y="26765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Susmija Punnam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punnamsusmija@gmail.com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7674905200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Industrial AI / Manufacturing</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280254" cy="824387"/>
          </a:xfrm>
          <a:prstGeom prst="rect">
            <a:avLst/>
          </a:prstGeom>
          <a:noFill/>
        </p:spPr>
        <p:txBody>
          <a:bodyPr wrap="square" rtlCol="0">
            <a:spAutoFit/>
          </a:bodyPr>
          <a:lstStyle/>
          <a:p>
            <a:r>
              <a:rPr lang="en-US" sz="2400" b="1" dirty="0"/>
              <a:t>Project Title – </a:t>
            </a:r>
            <a:r>
              <a:rPr lang="en-US" sz="2400" b="1" dirty="0">
                <a:highlight>
                  <a:srgbClr val="FFFF00"/>
                </a:highlight>
              </a:rPr>
              <a:t>[</a:t>
            </a:r>
            <a:r>
              <a:rPr lang="en-IN" sz="2400" dirty="0">
                <a:highlight>
                  <a:srgbClr val="FFFF00"/>
                </a:highlight>
              </a:rPr>
              <a:t>Smart Predictive System for Industrial Machinery  Using Machine Learning</a:t>
            </a:r>
            <a:endParaRPr lang="en-IN" sz="2400" b="1" dirty="0">
              <a:highlight>
                <a:srgbClr val="FFFF00"/>
              </a:highlight>
            </a:endParaRPr>
          </a:p>
        </p:txBody>
      </p:sp>
      <p:pic>
        <p:nvPicPr>
          <p:cNvPr id="5" name="Picture 4">
            <a:extLst>
              <a:ext uri="{FF2B5EF4-FFF2-40B4-BE49-F238E27FC236}">
                <a16:creationId xmlns:a16="http://schemas.microsoft.com/office/drawing/2014/main" id="{154B3E56-AB86-B108-E4E0-239C22BDF265}"/>
              </a:ext>
            </a:extLst>
          </p:cNvPr>
          <p:cNvPicPr>
            <a:picLocks noChangeAspect="1"/>
          </p:cNvPicPr>
          <p:nvPr/>
        </p:nvPicPr>
        <p:blipFill>
          <a:blip r:embed="rId3"/>
          <a:stretch>
            <a:fillRect/>
          </a:stretch>
        </p:blipFill>
        <p:spPr>
          <a:xfrm>
            <a:off x="4042047" y="3683879"/>
            <a:ext cx="794657" cy="1059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65059" y="1030568"/>
            <a:ext cx="11357834" cy="5267532"/>
          </a:xfrm>
          <a:prstGeom prst="rect">
            <a:avLst/>
          </a:prstGeom>
          <a:noFill/>
        </p:spPr>
        <p:txBody>
          <a:bodyPr wrap="square" lIns="91440" tIns="45720" rIns="91440" bIns="45720" rtlCol="0" anchor="t">
            <a:spAutoFit/>
          </a:bodyPr>
          <a:lstStyle/>
          <a:p>
            <a:r>
              <a:rPr lang="en-US" sz="2000" b="1" dirty="0"/>
              <a:t>Problem Statement:</a:t>
            </a:r>
            <a:r>
              <a:rPr lang="en-IN" sz="2000" b="1" dirty="0"/>
              <a:t>Smart Predictive System for Industrial Machinery Using Machine Learning</a:t>
            </a:r>
          </a:p>
          <a:p>
            <a:pPr>
              <a:lnSpc>
                <a:spcPct val="150000"/>
              </a:lnSpc>
            </a:pPr>
            <a:r>
              <a:rPr lang="en-IN" sz="2000" dirty="0"/>
              <a:t>Industrial machinery plays a vital role in manufacturing and production, where unexpected equipment failures can result in costly downtime, production delays, increased maintenance expenses, and reduced operational efficiency. Traditional maintenance methods, such as reactive maintenance (repairing machines after failure) and preventive maintenance (servicing machines at fixed intervals), often fail to accurately predict when a machine is likely to break down. As industries become increasingly data-driven, there is a growing need for an intelligent system that can continuously analyze machine operating conditions and detect potential failures before they occur. This project aims to develop a </a:t>
            </a:r>
            <a:r>
              <a:rPr lang="en-IN" sz="2000" b="1" dirty="0"/>
              <a:t>Smart Predictive System for Industrial Machinery Using Machine Learning</a:t>
            </a:r>
            <a:r>
              <a:rPr lang="en-IN" sz="2000" dirty="0"/>
              <a:t> that analyzes sensor data, including air temperature, process temperature, rotational speed, torque, and tool wear, to predict machine failures.</a:t>
            </a:r>
            <a:endParaRPr lang="en-US" sz="20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65059" y="34030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6784" y="979534"/>
            <a:ext cx="11131336" cy="5232202"/>
          </a:xfrm>
          <a:prstGeom prst="rect">
            <a:avLst/>
          </a:prstGeom>
          <a:noFill/>
        </p:spPr>
        <p:txBody>
          <a:bodyPr wrap="square" lIns="91440" tIns="45720" rIns="91440" bIns="45720" rtlCol="0" anchor="t">
            <a:spAutoFit/>
          </a:bodyPr>
          <a:lstStyle/>
          <a:p>
            <a:r>
              <a:rPr lang="en-IN" sz="2000" dirty="0"/>
              <a:t>The proposed solution is a </a:t>
            </a:r>
            <a:r>
              <a:rPr lang="en-IN" sz="2000" b="1" dirty="0"/>
              <a:t>Smart Predictive System for Industrial Machinery</a:t>
            </a:r>
            <a:r>
              <a:rPr lang="en-IN" sz="2000" dirty="0"/>
              <a:t> developed using </a:t>
            </a:r>
            <a:r>
              <a:rPr lang="en-IN" sz="2000" b="1" dirty="0"/>
              <a:t>IBM watsonx.ai Studio</a:t>
            </a:r>
            <a:r>
              <a:rPr lang="en-IN" sz="2000" dirty="0"/>
              <a:t>, </a:t>
            </a:r>
            <a:r>
              <a:rPr lang="en-IN" sz="2000" b="1" dirty="0"/>
              <a:t>AutoAI</a:t>
            </a:r>
            <a:r>
              <a:rPr lang="en-IN" sz="2000" dirty="0"/>
              <a:t>, and </a:t>
            </a:r>
            <a:r>
              <a:rPr lang="en-IN" sz="2000" b="1" dirty="0"/>
              <a:t>IBM watsonx.ai Runtime</a:t>
            </a:r>
            <a:r>
              <a:rPr lang="en-IN" sz="2000" dirty="0"/>
              <a:t>. The system analyzes machine sensor data, including air temperature, process temperature, rotational speed, torque, and tool wear, to predict potential equipment failures. IBM AutoAI automates data preprocessing, feature engineering, algorithm selection, model training, and hyperparameter optimization to identify the most accurate machine learning model. The trained model is then deployed on IBM Cloud, enabling real-time predictions and supporting predictive maintenance. This solution helps industries detect failures in advance, reduce unexpected downtime, lower maintenance costs, improve equipment reliability, and enhance overall operational efficiency.</a:t>
            </a:r>
          </a:p>
          <a:p>
            <a:endParaRPr lang="en-IN" sz="2000" dirty="0"/>
          </a:p>
          <a:p>
            <a:r>
              <a:rPr lang="en-IN" sz="2000" b="1" dirty="0"/>
              <a:t>IBM AutoAI</a:t>
            </a:r>
            <a:r>
              <a:rPr lang="en-IN" sz="2000" dirty="0"/>
              <a:t> automates data preprocessing, feature engineering, algorithm selection, model training, and hyperparameter optimization to identify the best-performing machine learning model. The trained model is deployed on </a:t>
            </a:r>
            <a:r>
              <a:rPr lang="en-IN" sz="2000" b="1" dirty="0"/>
              <a:t>IBM Cloud</a:t>
            </a:r>
            <a:r>
              <a:rPr lang="en-IN" sz="2000" dirty="0"/>
              <a:t> to provide real-time predictions, enabling predictive maintenance, reducing downtime, lowering maintenance costs, and improving equipment reliability and operational efficiency.</a:t>
            </a:r>
          </a:p>
          <a:p>
            <a:endParaRPr lang="en-IN" sz="1800" dirty="0"/>
          </a:p>
          <a:p>
            <a:pPr fontAlgn="base"/>
            <a:endParaRPr lang="en-US"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36784" y="169526"/>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189412" y="173839"/>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2697" y="404672"/>
            <a:ext cx="10515600" cy="6894195"/>
          </a:xfrm>
          <a:prstGeom prst="rect">
            <a:avLst/>
          </a:prstGeom>
          <a:noFill/>
        </p:spPr>
        <p:txBody>
          <a:bodyPr wrap="square" lIns="91440" tIns="45720" rIns="91440" bIns="45720" rtlCol="0" anchor="t">
            <a:spAutoFit/>
          </a:bodyPr>
          <a:lstStyle/>
          <a:p>
            <a:endParaRPr lang="en-US" sz="1800" dirty="0"/>
          </a:p>
          <a:p>
            <a:r>
              <a:rPr lang="en-US" sz="1800" b="1" dirty="0"/>
              <a:t>IBM Cloud</a:t>
            </a:r>
            <a:endParaRPr lang="en-IN" sz="1800" b="1" dirty="0"/>
          </a:p>
          <a:p>
            <a:r>
              <a:rPr lang="en-IN" sz="1800" dirty="0"/>
              <a:t>IBM Cloud provides a secure and scalable platform to develop, train, deploy, and manage machine learning models. It enables seamless integration with </a:t>
            </a:r>
            <a:r>
              <a:rPr lang="en-IN" sz="1800" b="1" dirty="0"/>
              <a:t>IBM watsonx.ai Studio</a:t>
            </a:r>
            <a:r>
              <a:rPr lang="en-IN" sz="1800" dirty="0"/>
              <a:t> for building predictive maintenance solutions, deploying trained models, and real-time predictions for industrial machinery.</a:t>
            </a:r>
          </a:p>
          <a:p>
            <a:endParaRPr lang="en-IN" sz="1800" dirty="0"/>
          </a:p>
          <a:p>
            <a:r>
              <a:rPr lang="en-IN" sz="1800" b="1" dirty="0"/>
              <a:t>IBM watsonx.ai Studio</a:t>
            </a:r>
          </a:p>
          <a:p>
            <a:r>
              <a:rPr lang="en-IN" sz="1800" dirty="0"/>
              <a:t>IBM watsonx.ai Studio is used to build the predictive maintenance model using </a:t>
            </a:r>
            <a:r>
              <a:rPr lang="en-IN" sz="1800" b="1" dirty="0"/>
              <a:t>AutoAI</a:t>
            </a:r>
            <a:r>
              <a:rPr lang="en-IN" sz="1800" dirty="0"/>
              <a:t>. It automates data preprocessing, feature engineering, algorithm selection, model training, and hyperparameter optimization to identify the best-performing machine learning pipeline.</a:t>
            </a:r>
          </a:p>
          <a:p>
            <a:endParaRPr lang="en-IN" sz="1800" dirty="0"/>
          </a:p>
          <a:p>
            <a:r>
              <a:rPr lang="en-IN" sz="1800" b="1" dirty="0"/>
              <a:t>ML Algorithm / Model Used</a:t>
            </a:r>
          </a:p>
          <a:p>
            <a:r>
              <a:rPr lang="en-IN" sz="1800" dirty="0"/>
              <a:t>Batched Tree Ensemble Classifier (Snap Random Forest Classifier)</a:t>
            </a:r>
            <a:endParaRPr lang="en-US" sz="1800" dirty="0"/>
          </a:p>
          <a:p>
            <a:r>
              <a:rPr lang="en-IN" sz="1800" b="1" dirty="0"/>
              <a:t>Accuracy Obtained</a:t>
            </a:r>
          </a:p>
          <a:p>
            <a:r>
              <a:rPr lang="en-IN" sz="1800" dirty="0"/>
              <a:t>99.9% (0.999 Cross Validation Accuracy)</a:t>
            </a:r>
          </a:p>
          <a:p>
            <a:endParaRPr lang="en-IN" sz="1800" dirty="0"/>
          </a:p>
          <a:p>
            <a:r>
              <a:rPr lang="en-IN" sz="1800" b="1" dirty="0"/>
              <a:t>Enhancements and Hyperparameter Tuning</a:t>
            </a:r>
          </a:p>
          <a:p>
            <a:r>
              <a:rPr lang="en-IN" sz="1800" dirty="0"/>
              <a:t>Automated Feature Engineering (FE) </a:t>
            </a:r>
          </a:p>
          <a:p>
            <a:r>
              <a:rPr lang="en-IN" sz="1800" dirty="0"/>
              <a:t>Hyperparameter Optimization (HPO-1) </a:t>
            </a:r>
          </a:p>
          <a:p>
            <a:r>
              <a:rPr lang="en-IN" sz="1800" dirty="0"/>
              <a:t>Hyperparameter Optimization (HPO-2) </a:t>
            </a:r>
          </a:p>
          <a:p>
            <a:r>
              <a:rPr lang="en-IN" sz="1800" dirty="0"/>
              <a:t>Batch Optimization </a:t>
            </a:r>
          </a:p>
          <a:p>
            <a:r>
              <a:rPr lang="en-IN" sz="1800" dirty="0"/>
              <a:t>Automatic Data Preprocessing </a:t>
            </a:r>
          </a:p>
          <a:p>
            <a:r>
              <a:rPr lang="en-IN" sz="1800" dirty="0"/>
              <a:t>Model Selection using IBM </a:t>
            </a:r>
            <a:r>
              <a:rPr lang="en-IN" sz="1800" dirty="0" err="1"/>
              <a:t>AutoAI</a:t>
            </a: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75DAC690-B7F8-CB5B-809C-A5C7EA539EBB}"/>
              </a:ext>
            </a:extLst>
          </p:cNvPr>
          <p:cNvPicPr>
            <a:picLocks noChangeAspect="1"/>
          </p:cNvPicPr>
          <p:nvPr/>
        </p:nvPicPr>
        <p:blipFill>
          <a:blip r:embed="rId3"/>
          <a:srcRect t="13228" r="1589"/>
          <a:stretch>
            <a:fillRect/>
          </a:stretch>
        </p:blipFill>
        <p:spPr>
          <a:xfrm>
            <a:off x="411983" y="917607"/>
            <a:ext cx="11368034" cy="548319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765745" y="476778"/>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E87CC1E1-2314-7757-E0ED-FC2549FB9E8C}"/>
              </a:ext>
            </a:extLst>
          </p:cNvPr>
          <p:cNvPicPr>
            <a:picLocks noChangeAspect="1"/>
          </p:cNvPicPr>
          <p:nvPr/>
        </p:nvPicPr>
        <p:blipFill>
          <a:blip r:embed="rId3"/>
          <a:srcRect t="5567"/>
          <a:stretch>
            <a:fillRect/>
          </a:stretch>
        </p:blipFill>
        <p:spPr>
          <a:xfrm>
            <a:off x="1050471" y="1121229"/>
            <a:ext cx="10091057" cy="541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B789EB-DE9C-15BC-2E99-E0CEFAF57F80}"/>
              </a:ext>
            </a:extLst>
          </p:cNvPr>
          <p:cNvPicPr>
            <a:picLocks noChangeAspect="1"/>
          </p:cNvPicPr>
          <p:nvPr/>
        </p:nvPicPr>
        <p:blipFill>
          <a:blip r:embed="rId2"/>
          <a:stretch>
            <a:fillRect/>
          </a:stretch>
        </p:blipFill>
        <p:spPr>
          <a:xfrm>
            <a:off x="574832" y="1382486"/>
            <a:ext cx="11192625" cy="4683089"/>
          </a:xfrm>
          <a:prstGeom prst="rect">
            <a:avLst/>
          </a:prstGeom>
        </p:spPr>
      </p:pic>
      <p:sp>
        <p:nvSpPr>
          <p:cNvPr id="7" name="TextBox 6">
            <a:extLst>
              <a:ext uri="{FF2B5EF4-FFF2-40B4-BE49-F238E27FC236}">
                <a16:creationId xmlns:a16="http://schemas.microsoft.com/office/drawing/2014/main" id="{7C680E00-396C-259C-F221-54F110CC472A}"/>
              </a:ext>
            </a:extLst>
          </p:cNvPr>
          <p:cNvSpPr txBox="1"/>
          <p:nvPr/>
        </p:nvSpPr>
        <p:spPr>
          <a:xfrm>
            <a:off x="574832" y="792425"/>
            <a:ext cx="6096000" cy="461665"/>
          </a:xfrm>
          <a:prstGeom prst="rect">
            <a:avLst/>
          </a:prstGeom>
          <a:noFill/>
        </p:spPr>
        <p:txBody>
          <a:bodyPr wrap="square">
            <a:spAutoFit/>
          </a:bodyPr>
          <a:lstStyle/>
          <a:p>
            <a:r>
              <a:rPr lang="en-US" sz="2400" b="1" dirty="0">
                <a:solidFill>
                  <a:schemeClr val="dk1"/>
                </a:solidFill>
                <a:latin typeface="Calibri"/>
                <a:ea typeface="Calibri"/>
                <a:cs typeface="Calibri"/>
              </a:rPr>
              <a:t>Best Model Screenshot:</a:t>
            </a:r>
          </a:p>
        </p:txBody>
      </p:sp>
    </p:spTree>
    <p:extLst>
      <p:ext uri="{BB962C8B-B14F-4D97-AF65-F5344CB8AC3E}">
        <p14:creationId xmlns:p14="http://schemas.microsoft.com/office/powerpoint/2010/main" val="369743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68FD41-2200-D60D-3314-27F5C9C848C9}"/>
              </a:ext>
            </a:extLst>
          </p:cNvPr>
          <p:cNvSpPr txBox="1"/>
          <p:nvPr/>
        </p:nvSpPr>
        <p:spPr>
          <a:xfrm>
            <a:off x="576942" y="313453"/>
            <a:ext cx="6096000" cy="461665"/>
          </a:xfrm>
          <a:prstGeom prst="rect">
            <a:avLst/>
          </a:prstGeom>
          <a:noFill/>
        </p:spPr>
        <p:txBody>
          <a:bodyPr wrap="square">
            <a:spAutoFit/>
          </a:bodyPr>
          <a:lstStyle/>
          <a:p>
            <a:r>
              <a:rPr lang="en-US" sz="2400" b="1" dirty="0">
                <a:solidFill>
                  <a:schemeClr val="dk1"/>
                </a:solidFill>
                <a:latin typeface="Calibri"/>
                <a:ea typeface="Calibri"/>
                <a:cs typeface="Calibri"/>
              </a:rPr>
              <a:t>Model Evaluation Result -</a:t>
            </a:r>
          </a:p>
        </p:txBody>
      </p:sp>
      <p:pic>
        <p:nvPicPr>
          <p:cNvPr id="13" name="Picture 12">
            <a:extLst>
              <a:ext uri="{FF2B5EF4-FFF2-40B4-BE49-F238E27FC236}">
                <a16:creationId xmlns:a16="http://schemas.microsoft.com/office/drawing/2014/main" id="{811BB68D-8E3E-F328-9394-396A15910F46}"/>
              </a:ext>
            </a:extLst>
          </p:cNvPr>
          <p:cNvPicPr>
            <a:picLocks noChangeAspect="1"/>
          </p:cNvPicPr>
          <p:nvPr/>
        </p:nvPicPr>
        <p:blipFill>
          <a:blip r:embed="rId2"/>
          <a:srcRect t="5783" r="1429" b="5102"/>
          <a:stretch>
            <a:fillRect/>
          </a:stretch>
        </p:blipFill>
        <p:spPr>
          <a:xfrm>
            <a:off x="576942" y="931240"/>
            <a:ext cx="11179629" cy="5534873"/>
          </a:xfrm>
          <a:prstGeom prst="rect">
            <a:avLst/>
          </a:prstGeom>
        </p:spPr>
      </p:pic>
    </p:spTree>
    <p:extLst>
      <p:ext uri="{BB962C8B-B14F-4D97-AF65-F5344CB8AC3E}">
        <p14:creationId xmlns:p14="http://schemas.microsoft.com/office/powerpoint/2010/main" val="410888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6" name="Picture 5">
            <a:extLst>
              <a:ext uri="{FF2B5EF4-FFF2-40B4-BE49-F238E27FC236}">
                <a16:creationId xmlns:a16="http://schemas.microsoft.com/office/drawing/2014/main" id="{023CBCAA-01BC-120F-AC2C-3F13680B3639}"/>
              </a:ext>
            </a:extLst>
          </p:cNvPr>
          <p:cNvPicPr>
            <a:picLocks noChangeAspect="1"/>
          </p:cNvPicPr>
          <p:nvPr/>
        </p:nvPicPr>
        <p:blipFill>
          <a:blip r:embed="rId3"/>
          <a:srcRect t="11839" b="-1"/>
          <a:stretch>
            <a:fillRect/>
          </a:stretch>
        </p:blipFill>
        <p:spPr>
          <a:xfrm>
            <a:off x="653143" y="1001485"/>
            <a:ext cx="11157857" cy="560947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149C6BD7-4B1B-F034-6276-79169208955F}"/>
              </a:ext>
            </a:extLst>
          </p:cNvPr>
          <p:cNvPicPr>
            <a:picLocks noChangeAspect="1"/>
          </p:cNvPicPr>
          <p:nvPr/>
        </p:nvPicPr>
        <p:blipFill>
          <a:blip r:embed="rId2"/>
          <a:srcRect t="12978" r="-147"/>
          <a:stretch>
            <a:fillRect/>
          </a:stretch>
        </p:blipFill>
        <p:spPr>
          <a:xfrm>
            <a:off x="414759" y="884488"/>
            <a:ext cx="11254727" cy="5625169"/>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535531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dirty="0"/>
              <a:t>The proposed system predicts potential machine failures before they occur, enabling predictive maintenance, minimizing unexpected equipment downtime, reducing maintenance costs, and improving overall operational efficiency in industrial environments. </a:t>
            </a:r>
          </a:p>
          <a:p>
            <a:endParaRPr lang="en-IN" sz="1800" dirty="0"/>
          </a:p>
          <a:p>
            <a:pPr marL="285750" indent="-285750">
              <a:buFont typeface="Arial" panose="020B0604020202020204" pitchFamily="34" charset="0"/>
              <a:buChar char="•"/>
            </a:pPr>
            <a:r>
              <a:rPr lang="en-IN" sz="1800" dirty="0"/>
              <a:t>It leverages IBM watsonx.ai AutoAI to automatically identify, train, optimize, and select the best-performing machine learning model through automated feature engineering and hyperparameter tuning, eliminating the need for extensive manual model development. </a:t>
            </a:r>
          </a:p>
          <a:p>
            <a:endParaRPr lang="en-IN" sz="1800" dirty="0"/>
          </a:p>
          <a:p>
            <a:pPr marL="285750" indent="-285750">
              <a:buFont typeface="Arial" panose="020B0604020202020204" pitchFamily="34" charset="0"/>
              <a:buChar char="•"/>
            </a:pPr>
            <a:r>
              <a:rPr lang="en-IN" sz="1800" dirty="0"/>
              <a:t>The system analyzes multiple machine operating parameters, including air temperature, process temperature, rotational speed, torque, and tool wear, to accurately detect patterns associated with equipment failures.</a:t>
            </a:r>
          </a:p>
          <a:p>
            <a:endParaRPr lang="en-IN" sz="1800" dirty="0"/>
          </a:p>
          <a:p>
            <a:pPr marL="285750" indent="-285750">
              <a:buFont typeface="Arial" panose="020B0604020202020204" pitchFamily="34" charset="0"/>
              <a:buChar char="•"/>
            </a:pPr>
            <a:r>
              <a:rPr lang="en-IN" sz="1800" dirty="0"/>
              <a:t> By utilizing machine learning, the solution provides early warning alerts, allowing maintenance teams to take proactive actions before critical failures occur, thereby increasing machine reliability and productivity. </a:t>
            </a:r>
          </a:p>
          <a:p>
            <a:endParaRPr lang="en-IN" sz="1800" dirty="0"/>
          </a:p>
          <a:p>
            <a:pPr marL="285750" indent="-285750">
              <a:buFont typeface="Arial" panose="020B0604020202020204" pitchFamily="34" charset="0"/>
              <a:buChar char="•"/>
            </a:pPr>
            <a:r>
              <a:rPr lang="en-IN" sz="1800" dirty="0"/>
              <a:t>The solution is scalable and can be integrated with Industry 4.0 technologies, enabling future support for real-time IoT-based monitoring, cloud deployment, and intelligent predictive maintenance across multiple industrial machines.</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endParaRPr lang="en-US" sz="1850">
              <a:solidFill>
                <a:srgbClr val="2B3541"/>
              </a:solidFill>
              <a:latin typeface="Times New Roman"/>
              <a:ea typeface="Times New Roman"/>
              <a:cs typeface="Times New Roman"/>
            </a:endParaRPr>
          </a:p>
          <a:p>
            <a:pPr>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latin typeface="Times New Roman"/>
                <a:ea typeface="Times New Roman"/>
                <a:cs typeface="Times New Roman"/>
              </a:rPr>
            </a:br>
            <a:r>
              <a:rPr lang="en-US" sz="1850">
                <a:solidFill>
                  <a:srgbClr val="2B3541"/>
                </a:solidFill>
                <a:latin typeface="Times New Roman"/>
                <a:ea typeface="Times New Roman"/>
                <a:cs typeface="Times New Roman"/>
                <a:sym typeface="Times New Roman"/>
              </a:rPr>
              <a:t>1) Data.csv file, 2) yourproblemstatement.pdf file  3) your project presntation.pptx file 4) Python Notebook downloaded from IBM Cloud</a:t>
            </a:r>
            <a:endParaRPr lang="en-US" sz="185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9380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98504" y="1379380"/>
            <a:ext cx="9558609" cy="5145425"/>
          </a:xfrm>
          <a:prstGeom prst="rect">
            <a:avLst/>
          </a:prstGeom>
          <a:noFill/>
          <a:ln>
            <a:noFill/>
          </a:ln>
        </p:spPr>
        <p:txBody>
          <a:bodyPr spcFirstLastPara="1" wrap="square" lIns="0" tIns="0" rIns="0" bIns="0" anchor="t" anchorCtr="0">
            <a:noAutofit/>
          </a:bodyPr>
          <a:lstStyle/>
          <a:p>
            <a:pPr lvl="0">
              <a:lnSpc>
                <a:spcPct val="150000"/>
              </a:lnSpc>
              <a:buSzPts val="1850"/>
            </a:pPr>
            <a:endParaRPr lang="en-US" sz="1800" b="1" dirty="0">
              <a:solidFill>
                <a:srgbClr val="2B3541"/>
              </a:solidFill>
              <a:latin typeface="Times New Roman"/>
              <a:cs typeface="Times New Roman"/>
            </a:endParaRPr>
          </a:p>
        </p:txBody>
      </p:sp>
      <p:sp>
        <p:nvSpPr>
          <p:cNvPr id="3" name="TextBox 2">
            <a:extLst>
              <a:ext uri="{FF2B5EF4-FFF2-40B4-BE49-F238E27FC236}">
                <a16:creationId xmlns:a16="http://schemas.microsoft.com/office/drawing/2014/main" id="{05DF0BFB-3316-0002-28A0-5D8FEA835F38}"/>
              </a:ext>
            </a:extLst>
          </p:cNvPr>
          <p:cNvSpPr txBox="1"/>
          <p:nvPr/>
        </p:nvSpPr>
        <p:spPr>
          <a:xfrm>
            <a:off x="1098504" y="1335960"/>
            <a:ext cx="9971791" cy="5028236"/>
          </a:xfrm>
          <a:prstGeom prst="rect">
            <a:avLst/>
          </a:prstGeom>
          <a:noFill/>
        </p:spPr>
        <p:txBody>
          <a:bodyPr wrap="square">
            <a:spAutoFit/>
          </a:bodyPr>
          <a:lstStyle/>
          <a:p>
            <a:pPr marL="285750" lvl="0" indent="-285750">
              <a:lnSpc>
                <a:spcPct val="150000"/>
              </a:lnSpc>
              <a:buSzPts val="1850"/>
              <a:buFont typeface="Arial" panose="020B0604020202020204" pitchFamily="34" charset="0"/>
              <a:buChar char="•"/>
            </a:pPr>
            <a:r>
              <a:rPr lang="en-IN" sz="1800" b="1" dirty="0"/>
              <a:t>Real-Time Machine Monitoring:</a:t>
            </a:r>
            <a:r>
              <a:rPr lang="en-IN" sz="1800" dirty="0"/>
              <a:t> Integrate IoT sensors to collect live machine data for continuous health monitoring and failure prediction. </a:t>
            </a:r>
          </a:p>
          <a:p>
            <a:pPr marL="285750" lvl="0" indent="-285750">
              <a:lnSpc>
                <a:spcPct val="150000"/>
              </a:lnSpc>
              <a:buSzPts val="1850"/>
              <a:buFont typeface="Arial" panose="020B0604020202020204" pitchFamily="34" charset="0"/>
              <a:buChar char="•"/>
            </a:pPr>
            <a:r>
              <a:rPr lang="en-IN" sz="1800" b="1" dirty="0"/>
              <a:t>Cloud-Based Deployment:</a:t>
            </a:r>
            <a:r>
              <a:rPr lang="en-IN" sz="1800" dirty="0"/>
              <a:t> Deploy the predictive maintenance system on IBM Cloud for remote monitoring and centralized management.</a:t>
            </a:r>
          </a:p>
          <a:p>
            <a:pPr marL="285750" lvl="0" indent="-285750">
              <a:lnSpc>
                <a:spcPct val="150000"/>
              </a:lnSpc>
              <a:buSzPts val="1850"/>
              <a:buFont typeface="Arial" panose="020B0604020202020204" pitchFamily="34" charset="0"/>
              <a:buChar char="•"/>
            </a:pPr>
            <a:r>
              <a:rPr lang="en-IN" sz="1800" dirty="0"/>
              <a:t> </a:t>
            </a:r>
            <a:r>
              <a:rPr lang="en-IN" sz="1800" b="1" dirty="0"/>
              <a:t>Deep Learning Models:</a:t>
            </a:r>
            <a:r>
              <a:rPr lang="en-IN" sz="1800" dirty="0"/>
              <a:t> Enhance prediction accuracy by implementing advanced deep learning algorithms such as LSTM and CNN for time-series sensor data.</a:t>
            </a:r>
          </a:p>
          <a:p>
            <a:pPr marL="285750" lvl="0" indent="-285750">
              <a:lnSpc>
                <a:spcPct val="150000"/>
              </a:lnSpc>
              <a:buSzPts val="1850"/>
              <a:buFont typeface="Arial" panose="020B0604020202020204" pitchFamily="34" charset="0"/>
              <a:buChar char="•"/>
            </a:pPr>
            <a:r>
              <a:rPr lang="en-IN" sz="1800" dirty="0"/>
              <a:t> </a:t>
            </a:r>
            <a:r>
              <a:rPr lang="en-IN" sz="1800" b="1" dirty="0"/>
              <a:t>Maintenance Scheduling:</a:t>
            </a:r>
            <a:r>
              <a:rPr lang="en-IN" sz="1800" dirty="0"/>
              <a:t> Develop an automated maintenance scheduling system that generates alerts and work orders before equipment failure.</a:t>
            </a:r>
          </a:p>
          <a:p>
            <a:pPr marL="285750" lvl="0" indent="-285750">
              <a:lnSpc>
                <a:spcPct val="150000"/>
              </a:lnSpc>
              <a:buSzPts val="1850"/>
              <a:buFont typeface="Arial" panose="020B0604020202020204" pitchFamily="34" charset="0"/>
              <a:buChar char="•"/>
            </a:pPr>
            <a:r>
              <a:rPr lang="en-IN" sz="1800" b="1" dirty="0"/>
              <a:t>Mobile &amp; Web Dashboard:</a:t>
            </a:r>
            <a:r>
              <a:rPr lang="en-IN" sz="1800" dirty="0"/>
              <a:t> Create user-friendly web and mobile applications for maintenance engineers to monitor equipment health anytime.</a:t>
            </a:r>
          </a:p>
          <a:p>
            <a:pPr marL="285750" lvl="0" indent="-285750">
              <a:lnSpc>
                <a:spcPct val="150000"/>
              </a:lnSpc>
              <a:buSzPts val="1850"/>
              <a:buFont typeface="Arial" panose="020B0604020202020204" pitchFamily="34" charset="0"/>
              <a:buChar char="•"/>
            </a:pPr>
            <a:r>
              <a:rPr lang="en-IN" sz="1800" b="1" dirty="0"/>
              <a:t>Industry 4.0 Integration:</a:t>
            </a:r>
            <a:r>
              <a:rPr lang="en-IN" sz="1800" dirty="0"/>
              <a:t> Connect the system with existing ERP, MES, and SCADA systems for smart factory automation and intelligent maintenance planning.</a:t>
            </a:r>
            <a:endParaRPr lang="en-US" sz="1800" b="1" dirty="0">
              <a:solidFill>
                <a:srgbClr val="2B3541"/>
              </a:solidFill>
              <a:latin typeface="Times New Roman"/>
              <a:cs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603973" y="722718"/>
            <a:ext cx="116399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Getting Started with Artificial Intelligence credly certificate </a:t>
            </a:r>
          </a:p>
        </p:txBody>
      </p:sp>
      <p:pic>
        <p:nvPicPr>
          <p:cNvPr id="8" name="Picture 7">
            <a:extLst>
              <a:ext uri="{FF2B5EF4-FFF2-40B4-BE49-F238E27FC236}">
                <a16:creationId xmlns:a16="http://schemas.microsoft.com/office/drawing/2014/main" id="{32D15EF8-8EB4-5636-EA11-D1910E2262FA}"/>
              </a:ext>
            </a:extLst>
          </p:cNvPr>
          <p:cNvPicPr>
            <a:picLocks noChangeAspect="1"/>
          </p:cNvPicPr>
          <p:nvPr/>
        </p:nvPicPr>
        <p:blipFill>
          <a:blip r:embed="rId2"/>
          <a:srcRect l="1330" t="1295" r="715" b="2772"/>
          <a:stretch>
            <a:fillRect/>
          </a:stretch>
        </p:blipFill>
        <p:spPr>
          <a:xfrm>
            <a:off x="2656114" y="1600201"/>
            <a:ext cx="6585857" cy="487680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37D7CD-22E2-6C57-761D-8A3DE3FE20C7}"/>
              </a:ext>
            </a:extLst>
          </p:cNvPr>
          <p:cNvSpPr txBox="1"/>
          <p:nvPr/>
        </p:nvSpPr>
        <p:spPr>
          <a:xfrm>
            <a:off x="468085" y="248883"/>
            <a:ext cx="6096000" cy="461665"/>
          </a:xfrm>
          <a:prstGeom prst="rect">
            <a:avLst/>
          </a:prstGeom>
          <a:noFill/>
        </p:spPr>
        <p:txBody>
          <a:bodyPr wrap="square">
            <a:spAutoFit/>
          </a:bodyPr>
          <a:lstStyle/>
          <a:p>
            <a:r>
              <a:rPr lang="en-US" sz="2400" b="1" dirty="0"/>
              <a:t>Certificates Earned:</a:t>
            </a:r>
          </a:p>
        </p:txBody>
      </p:sp>
      <p:sp>
        <p:nvSpPr>
          <p:cNvPr id="7" name="TextBox 6">
            <a:extLst>
              <a:ext uri="{FF2B5EF4-FFF2-40B4-BE49-F238E27FC236}">
                <a16:creationId xmlns:a16="http://schemas.microsoft.com/office/drawing/2014/main" id="{5C812177-FB3F-6A9A-5227-06EF6EFCFAF4}"/>
              </a:ext>
            </a:extLst>
          </p:cNvPr>
          <p:cNvSpPr txBox="1"/>
          <p:nvPr/>
        </p:nvSpPr>
        <p:spPr>
          <a:xfrm>
            <a:off x="827315" y="819405"/>
            <a:ext cx="10929258" cy="523220"/>
          </a:xfrm>
          <a:prstGeom prst="rect">
            <a:avLst/>
          </a:prstGeom>
          <a:noFill/>
        </p:spPr>
        <p:txBody>
          <a:bodyPr wrap="square">
            <a:spAutoFit/>
          </a:bodyPr>
          <a:lstStyle/>
          <a:p>
            <a:r>
              <a:rPr lang="en-US" sz="2800" b="1" dirty="0"/>
              <a:t>Getting Started with Artificial Intelligence credly certificate </a:t>
            </a:r>
          </a:p>
        </p:txBody>
      </p:sp>
      <p:pic>
        <p:nvPicPr>
          <p:cNvPr id="9" name="Picture 8">
            <a:extLst>
              <a:ext uri="{FF2B5EF4-FFF2-40B4-BE49-F238E27FC236}">
                <a16:creationId xmlns:a16="http://schemas.microsoft.com/office/drawing/2014/main" id="{B07A0192-2858-2EB0-307A-0D9AE45178AF}"/>
              </a:ext>
            </a:extLst>
          </p:cNvPr>
          <p:cNvPicPr>
            <a:picLocks noChangeAspect="1"/>
          </p:cNvPicPr>
          <p:nvPr/>
        </p:nvPicPr>
        <p:blipFill>
          <a:blip r:embed="rId2"/>
          <a:srcRect l="1176" t="2209" r="841" b="4695"/>
          <a:stretch>
            <a:fillRect/>
          </a:stretch>
        </p:blipFill>
        <p:spPr>
          <a:xfrm>
            <a:off x="2525484" y="1643744"/>
            <a:ext cx="6564087" cy="4778828"/>
          </a:xfrm>
          <a:prstGeom prst="rect">
            <a:avLst/>
          </a:prstGeom>
        </p:spPr>
      </p:pic>
    </p:spTree>
    <p:extLst>
      <p:ext uri="{BB962C8B-B14F-4D97-AF65-F5344CB8AC3E}">
        <p14:creationId xmlns:p14="http://schemas.microsoft.com/office/powerpoint/2010/main" val="1177120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383525" y="323417"/>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B5879C02-897D-F82D-5388-73C8BAA60D32}"/>
              </a:ext>
            </a:extLst>
          </p:cNvPr>
          <p:cNvPicPr>
            <a:picLocks noChangeAspect="1"/>
          </p:cNvPicPr>
          <p:nvPr/>
        </p:nvPicPr>
        <p:blipFill>
          <a:blip r:embed="rId2"/>
          <a:srcRect l="1187" t="2471" r="5607" b="18003"/>
          <a:stretch>
            <a:fillRect/>
          </a:stretch>
        </p:blipFill>
        <p:spPr>
          <a:xfrm>
            <a:off x="2688770" y="1477579"/>
            <a:ext cx="6095999" cy="457995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 name="TextBox 2">
            <a:extLst>
              <a:ext uri="{FF2B5EF4-FFF2-40B4-BE49-F238E27FC236}">
                <a16:creationId xmlns:a16="http://schemas.microsoft.com/office/drawing/2014/main" id="{3AB7589F-5762-1B9E-4D3C-2D3ACD1E3B66}"/>
              </a:ext>
            </a:extLst>
          </p:cNvPr>
          <p:cNvSpPr txBox="1"/>
          <p:nvPr/>
        </p:nvSpPr>
        <p:spPr>
          <a:xfrm>
            <a:off x="3222171" y="2447798"/>
            <a:ext cx="6096000" cy="1200329"/>
          </a:xfrm>
          <a:prstGeom prst="rect">
            <a:avLst/>
          </a:prstGeom>
          <a:noFill/>
        </p:spPr>
        <p:txBody>
          <a:bodyPr wrap="square">
            <a:spAutoFit/>
          </a:bodyPr>
          <a:lstStyle/>
          <a:p>
            <a:r>
              <a:rPr lang="en-US" sz="7200" b="1" dirty="0"/>
              <a:t>Thank You!!!</a:t>
            </a:r>
            <a:endParaRPr lang="en-IN" sz="72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985</Words>
  <Application>Microsoft Office PowerPoint</Application>
  <PresentationFormat>Widescreen</PresentationFormat>
  <Paragraphs>76</Paragraphs>
  <Slides>18</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susmija punnam</cp:lastModifiedBy>
  <cp:revision>5</cp:revision>
  <dcterms:created xsi:type="dcterms:W3CDTF">2025-07-08T05:06:56Z</dcterms:created>
  <dcterms:modified xsi:type="dcterms:W3CDTF">2026-07-03T18:19:17Z</dcterms:modified>
</cp:coreProperties>
</file>